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882A3"/>
                </a:solidFill>
                <a:latin typeface="Aptos"/>
              </a:rPr>
              <a:t>03 / 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21207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From Test Failure to Validated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05840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ptos"/>
              </a:rPr>
              <a:t>Orchestrator + Healer working together across the full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371600"/>
            <a:ext cx="594360" cy="22860"/>
          </a:xfrm>
          <a:prstGeom prst="rect">
            <a:avLst/>
          </a:prstGeom>
          <a:solidFill>
            <a:srgbClr val="2F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673352"/>
            <a:ext cx="2743200" cy="71323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C9D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37943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Segoe UI Symbol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773936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F7DE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47672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72B4D"/>
                </a:solidFill>
                <a:latin typeface="Aptos"/>
              </a:rPr>
              <a:t>Execution &amp;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17627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67085"/>
                </a:solidFill>
                <a:latin typeface="Aptos"/>
              </a:rPr>
              <a:t>Run tests and collect failures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9544" y="2029968"/>
            <a:ext cx="173735" cy="0"/>
          </a:xfrm>
          <a:prstGeom prst="line">
            <a:avLst/>
          </a:prstGeom>
          <a:ln w="2286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673352"/>
            <a:ext cx="2743200" cy="71323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C9D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8288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837943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Segoe UI Symbol"/>
              </a:rPr>
              <a:t>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73936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F7DE1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47672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72B4D"/>
                </a:solidFill>
                <a:latin typeface="Aptos"/>
              </a:rPr>
              <a:t>Chunked Batching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17627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67085"/>
                </a:solidFill>
                <a:latin typeface="Aptos"/>
              </a:rPr>
              <a:t>Group related failures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54495" y="2029968"/>
            <a:ext cx="173737" cy="0"/>
          </a:xfrm>
          <a:prstGeom prst="line">
            <a:avLst/>
          </a:prstGeom>
          <a:ln w="2286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01384" y="1673352"/>
            <a:ext cx="2743200" cy="713232"/>
          </a:xfrm>
          <a:prstGeom prst="roundRect">
            <a:avLst/>
          </a:prstGeom>
          <a:solidFill>
            <a:srgbClr val="EAF8F7"/>
          </a:solidFill>
          <a:ln w="10160">
            <a:solidFill>
              <a:srgbClr val="C9D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65976" y="18288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5976" y="1837943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Segoe UI Symbol"/>
              </a:rPr>
              <a:t>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1773936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39B9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1947672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72B4D"/>
                </a:solidFill>
                <a:latin typeface="Aptos"/>
              </a:rPr>
              <a:t>Empirical Diagnosis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217627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67085"/>
                </a:solidFill>
                <a:latin typeface="Aptos"/>
              </a:rPr>
              <a:t>Investigate and find root cause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9448" y="2029968"/>
            <a:ext cx="173736" cy="0"/>
          </a:xfrm>
          <a:prstGeom prst="line">
            <a:avLst/>
          </a:prstGeom>
          <a:ln w="2286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46336" y="1673352"/>
            <a:ext cx="2743200" cy="713232"/>
          </a:xfrm>
          <a:prstGeom prst="roundRect">
            <a:avLst/>
          </a:prstGeom>
          <a:solidFill>
            <a:srgbClr val="EEF8F0"/>
          </a:solidFill>
          <a:ln w="10160">
            <a:solidFill>
              <a:srgbClr val="C9D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10928" y="18288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1837943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Segoe UI Symbo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04704" y="1773936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4E9F63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4" y="1947672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72B4D"/>
                </a:solidFill>
                <a:latin typeface="Aptos"/>
              </a:rPr>
              <a:t>Controlled Patch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04704" y="217627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67085"/>
                </a:solidFill>
                <a:latin typeface="Aptos"/>
              </a:rPr>
              <a:t>Generate, approve and apply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615184"/>
            <a:ext cx="5486400" cy="274320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BFD5F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779776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F7DE1"/>
                </a:solidFill>
                <a:latin typeface="Aptos"/>
              </a:rPr>
              <a:t>BOUNDARY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299923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B4D"/>
                </a:solidFill>
                <a:latin typeface="Aptos"/>
              </a:rPr>
              <a:t>ORCHESTRATOR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3017520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F7DE1"/>
                </a:solidFill>
                <a:latin typeface="Aptos"/>
              </a:rPr>
              <a:t>Execution + Failure Organization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3438144"/>
            <a:ext cx="23774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2376" y="3557015"/>
            <a:ext cx="347472" cy="347472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" y="356615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72B4D"/>
                </a:solidFill>
                <a:latin typeface="Segoe UI Symbol"/>
              </a:rPr>
              <a:t>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" y="3557015"/>
            <a:ext cx="15727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72B4D"/>
                </a:solidFill>
                <a:latin typeface="Aptos"/>
              </a:rPr>
              <a:t>Execution &amp; Triage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4005072"/>
            <a:ext cx="20116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Run selected tests</a:t>
            </a:r>
          </a:p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Collect failures</a:t>
            </a:r>
          </a:p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Normalize data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999232" y="4206240"/>
            <a:ext cx="292608" cy="0"/>
          </a:xfrm>
          <a:prstGeom prst="line">
            <a:avLst/>
          </a:prstGeom>
          <a:ln w="22860">
            <a:solidFill>
              <a:srgbClr val="2F7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154680" y="3438144"/>
            <a:ext cx="23774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282696" y="3557015"/>
            <a:ext cx="347472" cy="347472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56615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72B4D"/>
                </a:solidFill>
                <a:latin typeface="Segoe UI Symbol"/>
              </a:rPr>
              <a:t>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1608" y="3557015"/>
            <a:ext cx="15727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72B4D"/>
                </a:solidFill>
                <a:latin typeface="Aptos"/>
              </a:rPr>
              <a:t>Chunked Batching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9272" y="4005072"/>
            <a:ext cx="20116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Group by file, error, spec</a:t>
            </a:r>
          </a:p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Create batches</a:t>
            </a:r>
          </a:p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Prepare context for healing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89904" y="2615184"/>
            <a:ext cx="3337560" cy="2743200"/>
          </a:xfrm>
          <a:prstGeom prst="roundRect">
            <a:avLst/>
          </a:prstGeom>
          <a:solidFill>
            <a:srgbClr val="F7FCFC"/>
          </a:solidFill>
          <a:ln w="10160">
            <a:solidFill>
              <a:srgbClr val="BFE3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72784" y="2779776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39B9B"/>
                </a:solidFill>
                <a:latin typeface="Aptos"/>
              </a:rPr>
              <a:t>BOUNDARY 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2999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B4D"/>
                </a:solidFill>
                <a:latin typeface="Aptos"/>
              </a:rPr>
              <a:t>HEALER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41464" y="3017520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9B9B"/>
                </a:solidFill>
                <a:latin typeface="Aptos"/>
              </a:rPr>
              <a:t>Investigation + Diagnosis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72784" y="3438144"/>
            <a:ext cx="29718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00800" y="3557015"/>
            <a:ext cx="347472" cy="347472"/>
          </a:xfrm>
          <a:prstGeom prst="ellipse">
            <a:avLst/>
          </a:prstGeom>
          <a:solidFill>
            <a:srgbClr val="EA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56615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Segoe UI Symbol"/>
              </a:rPr>
              <a:t>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9712" y="3557015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72B4D"/>
                </a:solidFill>
                <a:latin typeface="Aptos"/>
              </a:rPr>
              <a:t>Empirical Diagnosis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005072"/>
            <a:ext cx="25146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Analyze test &amp; project context</a:t>
            </a:r>
          </a:p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Use Playwright / MCP</a:t>
            </a:r>
          </a:p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Identify root cause</a:t>
            </a:r>
          </a:p>
          <a:p>
            <a:pPr>
              <a:spcAft>
                <a:spcPts val="600"/>
              </a:spcAft>
              <a:defRPr sz="919">
                <a:solidFill>
                  <a:srgbClr val="667085"/>
                </a:solidFill>
                <a:latin typeface="Aptos"/>
              </a:defRPr>
            </a:pPr>
            <a:r>
              <a:t>•  Propose correction (patch)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56064" y="2615184"/>
            <a:ext cx="2121408" cy="2743200"/>
          </a:xfrm>
          <a:prstGeom prst="roundRect">
            <a:avLst/>
          </a:prstGeom>
          <a:solidFill>
            <a:srgbClr val="F8FCF8"/>
          </a:solidFill>
          <a:ln w="10160">
            <a:solidFill>
              <a:srgbClr val="C7E2C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02368" y="277977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4E9F63"/>
                </a:solidFill>
                <a:latin typeface="Aptos"/>
              </a:rPr>
              <a:t>BOUNDARY 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2368" y="2999232"/>
            <a:ext cx="868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B4D"/>
                </a:solidFill>
                <a:latin typeface="Aptos"/>
              </a:rPr>
              <a:t>HUMAN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3017520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E9F63"/>
                </a:solidFill>
                <a:latin typeface="Aptos"/>
              </a:rPr>
              <a:t>Approval + Control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02368" y="3438144"/>
            <a:ext cx="18288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921240" y="3557015"/>
            <a:ext cx="347472" cy="347472"/>
          </a:xfrm>
          <a:prstGeom prst="ellipse">
            <a:avLst/>
          </a:prstGeom>
          <a:solidFill>
            <a:srgbClr val="EE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21240" y="356615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72B4D"/>
                </a:solidFill>
                <a:latin typeface="Segoe UI Symbol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60152" y="3557015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1">
                <a:solidFill>
                  <a:srgbClr val="172B4D"/>
                </a:solidFill>
                <a:latin typeface="Aptos"/>
              </a:rPr>
              <a:t>Controlled Patch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21240" y="4005072"/>
            <a:ext cx="148132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80">
                <a:solidFill>
                  <a:srgbClr val="667085"/>
                </a:solidFill>
                <a:latin typeface="Aptos"/>
              </a:defRPr>
            </a:pPr>
            <a:r>
              <a:t>•  Generate proposal</a:t>
            </a:r>
          </a:p>
          <a:p>
            <a:pPr>
              <a:spcAft>
                <a:spcPts val="600"/>
              </a:spcAft>
              <a:defRPr sz="880">
                <a:solidFill>
                  <a:srgbClr val="667085"/>
                </a:solidFill>
                <a:latin typeface="Aptos"/>
              </a:defRPr>
            </a:pPr>
            <a:r>
              <a:t>•  Human approval</a:t>
            </a:r>
          </a:p>
          <a:p>
            <a:pPr>
              <a:spcAft>
                <a:spcPts val="600"/>
              </a:spcAft>
              <a:defRPr sz="880">
                <a:solidFill>
                  <a:srgbClr val="667085"/>
                </a:solidFill>
                <a:latin typeface="Aptos"/>
              </a:defRPr>
            </a:pPr>
            <a:r>
              <a:t>•  Apply changes</a:t>
            </a:r>
          </a:p>
          <a:p>
            <a:pPr>
              <a:spcAft>
                <a:spcPts val="600"/>
              </a:spcAft>
              <a:defRPr sz="880">
                <a:solidFill>
                  <a:srgbClr val="667085"/>
                </a:solidFill>
                <a:latin typeface="Aptos"/>
              </a:defRPr>
            </a:pPr>
            <a:r>
              <a:t>•  Validate fix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907024" y="4206240"/>
            <a:ext cx="128016" cy="0"/>
          </a:xfrm>
          <a:prstGeom prst="line">
            <a:avLst/>
          </a:prstGeom>
          <a:ln w="22860">
            <a:solidFill>
              <a:srgbClr val="23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491472" y="4206240"/>
            <a:ext cx="109728" cy="0"/>
          </a:xfrm>
          <a:prstGeom prst="line">
            <a:avLst/>
          </a:prstGeom>
          <a:ln w="22860">
            <a:solidFill>
              <a:srgbClr val="4E9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411480" y="5559552"/>
            <a:ext cx="11365992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977639" y="5678424"/>
            <a:ext cx="10972" cy="402336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18120" y="5678424"/>
            <a:ext cx="10972" cy="402336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94360" y="5687568"/>
            <a:ext cx="365760" cy="365760"/>
          </a:xfrm>
          <a:prstGeom prst="ellipse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569671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72B4D"/>
                </a:solidFill>
                <a:latin typeface="Segoe UI Symbol"/>
              </a:rPr>
              <a:t>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9848" y="5660136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2B4D"/>
                </a:solidFill>
                <a:latin typeface="Aptos"/>
              </a:rPr>
              <a:t>ORCHESTRATOR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9848" y="587044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Execution + Failure Organization</a:t>
            </a:r>
          </a:p>
        </p:txBody>
      </p:sp>
      <p:sp>
        <p:nvSpPr>
          <p:cNvPr id="75" name="Oval 74"/>
          <p:cNvSpPr/>
          <p:nvPr/>
        </p:nvSpPr>
        <p:spPr>
          <a:xfrm>
            <a:off x="4224528" y="5687568"/>
            <a:ext cx="365760" cy="365760"/>
          </a:xfrm>
          <a:prstGeom prst="ellipse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24528" y="569671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72B4D"/>
                </a:solidFill>
                <a:latin typeface="Segoe UI Symbol"/>
              </a:rPr>
              <a:t>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00016" y="5660136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2B4D"/>
                </a:solidFill>
                <a:latin typeface="Aptos"/>
              </a:rPr>
              <a:t>HEALER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00016" y="587044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Investigation + Diagnosis + Remediation</a:t>
            </a:r>
          </a:p>
        </p:txBody>
      </p:sp>
      <p:sp>
        <p:nvSpPr>
          <p:cNvPr id="79" name="Oval 78"/>
          <p:cNvSpPr/>
          <p:nvPr/>
        </p:nvSpPr>
        <p:spPr>
          <a:xfrm>
            <a:off x="8074152" y="5687568"/>
            <a:ext cx="365760" cy="365760"/>
          </a:xfrm>
          <a:prstGeom prst="ellipse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74152" y="569671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72B4D"/>
                </a:solidFill>
                <a:latin typeface="Segoe UI Symbol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49640" y="5660136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2B4D"/>
                </a:solidFill>
                <a:latin typeface="Aptos"/>
              </a:rPr>
              <a:t>HUMAN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49640" y="587044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Approval + Control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85"/>
                </a:solidFill>
                <a:latin typeface="Aptos"/>
              </a:rPr>
              <a:t>Pipeline: Execution → Diagnosis → Controlled Remediation → Validation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44200" y="6510528"/>
            <a:ext cx="103327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